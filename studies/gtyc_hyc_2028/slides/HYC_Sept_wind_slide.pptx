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0–5 kt</c:v>
                </c:pt>
              </c:strCache>
            </c:strRef>
          </c:tx>
          <c:spPr>
            <a:solidFill>
              <a:srgbClr val="482677">
                <a:alpha val="100000"/>
              </a:srgbClr>
            </a:solidFill>
            <a:ln w="25400" cap="flat">
              <a:solidFill>
                <a:srgbClr val="482677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482677"/>
              </a:solidFill>
              <a:ln w="9525" cap="flat">
                <a:solidFill>
                  <a:srgbClr val="48267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Sheet1!$A$2:$A$17</c:f>
              <c:multiLvlStrCache>
                <c:ptCount val="16"/>
                <c:lvl>
                  <c:pt idx="0">
                    <c:v>N</c:v>
                  </c:pt>
                  <c:pt idx="1">
                    <c:v>NNE</c:v>
                  </c:pt>
                  <c:pt idx="2">
                    <c:v>NE</c:v>
                  </c:pt>
                  <c:pt idx="3">
                    <c:v>ENE</c:v>
                  </c:pt>
                  <c:pt idx="4">
                    <c:v>E</c:v>
                  </c:pt>
                  <c:pt idx="5">
                    <c:v>ESE</c:v>
                  </c:pt>
                  <c:pt idx="6">
                    <c:v>SE</c:v>
                  </c:pt>
                  <c:pt idx="7">
                    <c:v>SSE</c:v>
                  </c:pt>
                  <c:pt idx="8">
                    <c:v>S</c:v>
                  </c:pt>
                  <c:pt idx="9">
                    <c:v>SSW</c:v>
                  </c:pt>
                  <c:pt idx="10">
                    <c:v>SW</c:v>
                  </c:pt>
                  <c:pt idx="11">
                    <c:v>WSW</c:v>
                  </c:pt>
                  <c:pt idx="12">
                    <c:v>W</c:v>
                  </c:pt>
                  <c:pt idx="13">
                    <c:v>WNW</c:v>
                  </c:pt>
                  <c:pt idx="14">
                    <c:v>NW</c:v>
                  </c:pt>
                  <c:pt idx="15">
                    <c:v>NNW</c:v>
                  </c:pt>
                </c:lvl>
              </c:multiLvlStrCache>
            </c:multiLvl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7.07</c:v>
                </c:pt>
                <c:pt idx="1">
                  <c:v>14.53</c:v>
                </c:pt>
                <c:pt idx="2">
                  <c:v>14.15</c:v>
                </c:pt>
                <c:pt idx="3">
                  <c:v>4.4</c:v>
                </c:pt>
                <c:pt idx="4">
                  <c:v>0.57</c:v>
                </c:pt>
                <c:pt idx="5">
                  <c:v>0.76</c:v>
                </c:pt>
                <c:pt idx="6">
                  <c:v>2.1</c:v>
                </c:pt>
                <c:pt idx="7">
                  <c:v>1.34</c:v>
                </c:pt>
                <c:pt idx="8">
                  <c:v>3.06</c:v>
                </c:pt>
                <c:pt idx="9">
                  <c:v>8.41</c:v>
                </c:pt>
                <c:pt idx="10">
                  <c:v>14.15</c:v>
                </c:pt>
                <c:pt idx="11">
                  <c:v>9.94</c:v>
                </c:pt>
                <c:pt idx="12">
                  <c:v>5.35</c:v>
                </c:pt>
                <c:pt idx="13">
                  <c:v>3.82</c:v>
                </c:pt>
                <c:pt idx="14">
                  <c:v>5.35</c:v>
                </c:pt>
                <c:pt idx="15">
                  <c:v>4.97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5–10 kt</c:v>
                </c:pt>
              </c:strCache>
            </c:strRef>
          </c:tx>
          <c:spPr>
            <a:solidFill>
              <a:srgbClr val="3B5B92">
                <a:alpha val="100000"/>
              </a:srgbClr>
            </a:solidFill>
            <a:ln w="25400" cap="flat">
              <a:solidFill>
                <a:srgbClr val="3B5B92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3B5B92"/>
              </a:solidFill>
              <a:ln w="9525" cap="flat">
                <a:solidFill>
                  <a:srgbClr val="3B5B9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Sheet1!$A$2:$A$17</c:f>
              <c:multiLvlStrCache>
                <c:ptCount val="16"/>
                <c:lvl>
                  <c:pt idx="0">
                    <c:v>N</c:v>
                  </c:pt>
                  <c:pt idx="1">
                    <c:v>NNE</c:v>
                  </c:pt>
                  <c:pt idx="2">
                    <c:v>NE</c:v>
                  </c:pt>
                  <c:pt idx="3">
                    <c:v>ENE</c:v>
                  </c:pt>
                  <c:pt idx="4">
                    <c:v>E</c:v>
                  </c:pt>
                  <c:pt idx="5">
                    <c:v>ESE</c:v>
                  </c:pt>
                  <c:pt idx="6">
                    <c:v>SE</c:v>
                  </c:pt>
                  <c:pt idx="7">
                    <c:v>SSE</c:v>
                  </c:pt>
                  <c:pt idx="8">
                    <c:v>S</c:v>
                  </c:pt>
                  <c:pt idx="9">
                    <c:v>SSW</c:v>
                  </c:pt>
                  <c:pt idx="10">
                    <c:v>SW</c:v>
                  </c:pt>
                  <c:pt idx="11">
                    <c:v>WSW</c:v>
                  </c:pt>
                  <c:pt idx="12">
                    <c:v>W</c:v>
                  </c:pt>
                  <c:pt idx="13">
                    <c:v>WNW</c:v>
                  </c:pt>
                  <c:pt idx="14">
                    <c:v>NW</c:v>
                  </c:pt>
                  <c:pt idx="15">
                    <c:v>NNW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5.93</c:v>
                </c:pt>
                <c:pt idx="1">
                  <c:v>13.19</c:v>
                </c:pt>
                <c:pt idx="2">
                  <c:v>12.62</c:v>
                </c:pt>
                <c:pt idx="3">
                  <c:v>2.87</c:v>
                </c:pt>
                <c:pt idx="4">
                  <c:v>0.19</c:v>
                </c:pt>
                <c:pt idx="5">
                  <c:v>0.19</c:v>
                </c:pt>
                <c:pt idx="6">
                  <c:v>1.34</c:v>
                </c:pt>
                <c:pt idx="7">
                  <c:v>0.76</c:v>
                </c:pt>
                <c:pt idx="8">
                  <c:v>2.49</c:v>
                </c:pt>
                <c:pt idx="9">
                  <c:v>7.46</c:v>
                </c:pt>
                <c:pt idx="10">
                  <c:v>11.09</c:v>
                </c:pt>
                <c:pt idx="11">
                  <c:v>6.5</c:v>
                </c:pt>
                <c:pt idx="12">
                  <c:v>1.72</c:v>
                </c:pt>
                <c:pt idx="13">
                  <c:v>1.72</c:v>
                </c:pt>
                <c:pt idx="14">
                  <c:v>3.63</c:v>
                </c:pt>
                <c:pt idx="15">
                  <c:v>3.06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10–15 kt</c:v>
                </c:pt>
              </c:strCache>
            </c:strRef>
          </c:tx>
          <c:spPr>
            <a:solidFill>
              <a:srgbClr val="238A8D">
                <a:alpha val="100000"/>
              </a:srgbClr>
            </a:solidFill>
            <a:ln w="25400" cap="flat">
              <a:solidFill>
                <a:srgbClr val="238A8D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238A8D"/>
              </a:solidFill>
              <a:ln w="9525" cap="flat">
                <a:solidFill>
                  <a:srgbClr val="238A8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Sheet1!$A$2:$A$17</c:f>
              <c:multiLvlStrCache>
                <c:ptCount val="16"/>
                <c:lvl>
                  <c:pt idx="0">
                    <c:v>N</c:v>
                  </c:pt>
                  <c:pt idx="1">
                    <c:v>NNE</c:v>
                  </c:pt>
                  <c:pt idx="2">
                    <c:v>NE</c:v>
                  </c:pt>
                  <c:pt idx="3">
                    <c:v>ENE</c:v>
                  </c:pt>
                  <c:pt idx="4">
                    <c:v>E</c:v>
                  </c:pt>
                  <c:pt idx="5">
                    <c:v>ESE</c:v>
                  </c:pt>
                  <c:pt idx="6">
                    <c:v>SE</c:v>
                  </c:pt>
                  <c:pt idx="7">
                    <c:v>SSE</c:v>
                  </c:pt>
                  <c:pt idx="8">
                    <c:v>S</c:v>
                  </c:pt>
                  <c:pt idx="9">
                    <c:v>SSW</c:v>
                  </c:pt>
                  <c:pt idx="10">
                    <c:v>SW</c:v>
                  </c:pt>
                  <c:pt idx="11">
                    <c:v>WSW</c:v>
                  </c:pt>
                  <c:pt idx="12">
                    <c:v>W</c:v>
                  </c:pt>
                  <c:pt idx="13">
                    <c:v>WNW</c:v>
                  </c:pt>
                  <c:pt idx="14">
                    <c:v>NW</c:v>
                  </c:pt>
                  <c:pt idx="15">
                    <c:v>NNW</c:v>
                  </c:pt>
                </c:lvl>
              </c:multiLvlStrCache>
            </c:multiLvl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2.49</c:v>
                </c:pt>
                <c:pt idx="1">
                  <c:v>6.5</c:v>
                </c:pt>
                <c:pt idx="2">
                  <c:v>7.84</c:v>
                </c:pt>
                <c:pt idx="3">
                  <c:v>2.1</c:v>
                </c:pt>
                <c:pt idx="4">
                  <c:v>0</c:v>
                </c:pt>
                <c:pt idx="5">
                  <c:v>0</c:v>
                </c:pt>
                <c:pt idx="6">
                  <c:v>0.57</c:v>
                </c:pt>
                <c:pt idx="7">
                  <c:v>0.57</c:v>
                </c:pt>
                <c:pt idx="8">
                  <c:v>1.15</c:v>
                </c:pt>
                <c:pt idx="9">
                  <c:v>4.21</c:v>
                </c:pt>
                <c:pt idx="10">
                  <c:v>5.16</c:v>
                </c:pt>
                <c:pt idx="11">
                  <c:v>2.87</c:v>
                </c:pt>
                <c:pt idx="12">
                  <c:v>0.76</c:v>
                </c:pt>
                <c:pt idx="13">
                  <c:v>0.19</c:v>
                </c:pt>
                <c:pt idx="14">
                  <c:v>1.72</c:v>
                </c:pt>
                <c:pt idx="15">
                  <c:v>1.34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15–20 kt</c:v>
                </c:pt>
              </c:strCache>
            </c:strRef>
          </c:tx>
          <c:spPr>
            <a:solidFill>
              <a:srgbClr val="29AF7F">
                <a:alpha val="100000"/>
              </a:srgbClr>
            </a:solidFill>
            <a:ln w="25400" cap="flat">
              <a:solidFill>
                <a:srgbClr val="29AF7F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29AF7F"/>
              </a:solidFill>
              <a:ln w="9525" cap="flat">
                <a:solidFill>
                  <a:srgbClr val="29AF7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Sheet1!$A$2:$A$17</c:f>
              <c:multiLvlStrCache>
                <c:ptCount val="16"/>
                <c:lvl>
                  <c:pt idx="0">
                    <c:v>N</c:v>
                  </c:pt>
                  <c:pt idx="1">
                    <c:v>NNE</c:v>
                  </c:pt>
                  <c:pt idx="2">
                    <c:v>NE</c:v>
                  </c:pt>
                  <c:pt idx="3">
                    <c:v>ENE</c:v>
                  </c:pt>
                  <c:pt idx="4">
                    <c:v>E</c:v>
                  </c:pt>
                  <c:pt idx="5">
                    <c:v>ESE</c:v>
                  </c:pt>
                  <c:pt idx="6">
                    <c:v>SE</c:v>
                  </c:pt>
                  <c:pt idx="7">
                    <c:v>SSE</c:v>
                  </c:pt>
                  <c:pt idx="8">
                    <c:v>S</c:v>
                  </c:pt>
                  <c:pt idx="9">
                    <c:v>SSW</c:v>
                  </c:pt>
                  <c:pt idx="10">
                    <c:v>SW</c:v>
                  </c:pt>
                  <c:pt idx="11">
                    <c:v>WSW</c:v>
                  </c:pt>
                  <c:pt idx="12">
                    <c:v>W</c:v>
                  </c:pt>
                  <c:pt idx="13">
                    <c:v>WNW</c:v>
                  </c:pt>
                  <c:pt idx="14">
                    <c:v>NW</c:v>
                  </c:pt>
                  <c:pt idx="15">
                    <c:v>NNW</c:v>
                  </c:pt>
                </c:lvl>
              </c:multiLvlStrCache>
            </c:multiLvlStrRef>
          </c:cat>
          <c:val>
            <c:numRef>
              <c:f>Sheet1!$E$2:$E$17</c:f>
              <c:numCache>
                <c:formatCode>General</c:formatCode>
                <c:ptCount val="16"/>
                <c:pt idx="0">
                  <c:v>0.38</c:v>
                </c:pt>
                <c:pt idx="1">
                  <c:v>1.53</c:v>
                </c:pt>
                <c:pt idx="2">
                  <c:v>1.72</c:v>
                </c:pt>
                <c:pt idx="3">
                  <c:v>1.53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0.19</c:v>
                </c:pt>
                <c:pt idx="9">
                  <c:v>0.57</c:v>
                </c:pt>
                <c:pt idx="10">
                  <c:v>1.91</c:v>
                </c:pt>
                <c:pt idx="11">
                  <c:v>1.72</c:v>
                </c:pt>
                <c:pt idx="12">
                  <c:v>0.19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1D5DB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0"/>
        </c:scaling>
        <c:delete val="0"/>
        <c:axPos val="l"/>
        <c:majorGridlines>
          <c:spPr>
            <a:ln w="9525" cap="flat">
              <a:solidFill>
                <a:srgbClr val="D1D5DB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1F293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hours</c:v>
                </c:pt>
              </c:strCache>
            </c:strRef>
          </c:tx>
          <c:spPr>
            <a:solidFill>
              <a:srgbClr val="482677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8267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5B9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38A8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9AF7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4D44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0–5</c:v>
                  </c:pt>
                  <c:pt idx="1">
                    <c:v>5–10</c:v>
                  </c:pt>
                  <c:pt idx="2">
                    <c:v>10–15</c:v>
                  </c:pt>
                  <c:pt idx="3">
                    <c:v>15–20</c:v>
                  </c:pt>
                  <c:pt idx="4">
                    <c:v>20+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25.2</c:v>
                </c:pt>
                <c:pt idx="1">
                  <c:v>37.3</c:v>
                </c:pt>
                <c:pt idx="2">
                  <c:v>27.7</c:v>
                </c:pt>
                <c:pt idx="3">
                  <c:v>9.8</c:v>
                </c:pt>
                <c:pt idx="4">
                  <c:v>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B7280"/>
                    </a:solidFill>
                    <a:latin typeface="Calibri"/>
                  </a:defRPr>
                </a:pPr>
                <a:r>
                  <a:rPr sz="1200" b="0" i="0" u="none" strike="noStrike">
                    <a:solidFill>
                      <a:srgbClr val="6B7280"/>
                    </a:solidFill>
                    <a:latin typeface="Calibri"/>
                  </a:rPr>
                  <a:t>Wind speed (kt)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HYC (Caseville): September 8–14 wind, 2015–2025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HRRR 10 m wind, racing hours 10 AM–4 PM EDT, n = 523 hours. Sample point 2 nm out at bearing 330° from the club</a:t>
            </a:r>
            <a:endParaRPr lang="en-US" sz="1600" dirty="0"/>
          </a:p>
        </p:txBody>
      </p:sp>
      <p:sp>
        <p:nvSpPr>
          <p:cNvPr id="4" name="Rose heading"/>
          <p:cNvSpPr txBox="1"/>
          <p:nvPr/>
        </p:nvSpPr>
        <p:spPr>
          <a:xfrm>
            <a:off x="548640" y="15544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rose: % of hours by direction wind blows from</a:t>
            </a:r>
            <a:endParaRPr lang="en-US" sz="1600" dirty="0"/>
          </a:p>
        </p:txBody>
      </p:sp>
      <p:graphicFrame>
        <p:nvGraphicFramePr>
          <p:cNvPr id="5" name="Wind rose" descr=""/>
          <p:cNvGraphicFramePr/>
          <p:nvPr/>
        </p:nvGraphicFramePr>
        <p:xfrm>
          <a:off x="457200" y="1874520"/>
          <a:ext cx="58521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Distribution heading"/>
          <p:cNvSpPr txBox="1"/>
          <p:nvPr/>
        </p:nvSpPr>
        <p:spPr>
          <a:xfrm>
            <a:off x="6675120" y="1554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distribution (% of hours)</a:t>
            </a:r>
            <a:endParaRPr lang="en-US" sz="1600" dirty="0"/>
          </a:p>
        </p:txBody>
      </p:sp>
      <p:graphicFrame>
        <p:nvGraphicFramePr>
          <p:cNvPr id="7" name="Speed distribution" descr=""/>
          <p:cNvGraphicFramePr/>
          <p:nvPr/>
        </p:nvGraphicFramePr>
        <p:xfrm>
          <a:off x="6583680" y="1874520"/>
          <a:ext cx="512064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" name="Summary statistic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4251960"/>
          <a:ext cx="49377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7373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/ median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 / 8.1 kt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90th percentile / max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14.9 / 19.4 kt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5 kt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5–15 kt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kt or more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Usable days (3+ h in 5–15 kt)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 steadiness 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9" name="Source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NOAA HRRR F00 analysis, water cells within 4 nm of the sample point. Wind rose bands are cumulative filled areas, so each color shows its own speed band.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2026-10-21T18:35:28Z</dcterms:created>
  <dcterms:modified xsi:type="dcterms:W3CDTF">2026-10-21T18:35:28Z</dcterms:modified>
</cp:coreProperties>
</file>