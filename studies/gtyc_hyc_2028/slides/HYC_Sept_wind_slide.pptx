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mc:AlternateContent xmlns:mc="http://schemas.openxmlformats.org/markup-compatibility/2006">
    <mc:Choice xmlns:c14="http://schemas.microsoft.com/office/drawing/2007/8/2/chart" Requires="c14">
      <c14:style val="118"/>
    </mc:Choice>
    <mc:Fallback>
      <c:style val="18"/>
    </mc:Fallback>
  </mc:AlternateContent>
  <c:chart>
    <c:autoTitleDeleted val="1"/>
    <c:plotArea>
      <c:layout/>
      <c:radarChart>
        <c:radarStyle val="fill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0–5 kt</c:v>
                </c:pt>
              </c:strCache>
            </c:strRef>
          </c:tx>
          <c:spPr>
            <a:solidFill>
              <a:srgbClr val="482677"/>
            </a:solidFill>
            <a:ln>
              <a:solidFill>
                <a:srgbClr val="482677"/>
              </a:solidFill>
            </a:ln>
          </c:spPr>
          <c:cat>
            <c:strRef>
              <c:f>Sheet1!$A$2:$A$17</c:f>
              <c:strCache>
                <c:ptCount val="16"/>
                <c:pt idx="0">
                  <c:v>N</c:v>
                </c:pt>
                <c:pt idx="1">
                  <c:v>NNE</c:v>
                </c:pt>
                <c:pt idx="2">
                  <c:v>NE</c:v>
                </c:pt>
                <c:pt idx="3">
                  <c:v>ENE</c:v>
                </c:pt>
                <c:pt idx="4">
                  <c:v>E</c:v>
                </c:pt>
                <c:pt idx="5">
                  <c:v>ESE</c:v>
                </c:pt>
                <c:pt idx="6">
                  <c:v>SE</c:v>
                </c:pt>
                <c:pt idx="7">
                  <c:v>SSE</c:v>
                </c:pt>
                <c:pt idx="8">
                  <c:v>S</c:v>
                </c:pt>
                <c:pt idx="9">
                  <c:v>SSW</c:v>
                </c:pt>
                <c:pt idx="10">
                  <c:v>SW</c:v>
                </c:pt>
                <c:pt idx="11">
                  <c:v>WSW</c:v>
                </c:pt>
                <c:pt idx="12">
                  <c:v>W</c:v>
                </c:pt>
                <c:pt idx="13">
                  <c:v>WNW</c:v>
                </c:pt>
                <c:pt idx="14">
                  <c:v>NW</c:v>
                </c:pt>
                <c:pt idx="15">
                  <c:v>NNW</c:v>
                </c:pt>
              </c:strCache>
            </c: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7.075</c:v>
                </c:pt>
                <c:pt idx="1">
                  <c:v>14.532</c:v>
                </c:pt>
                <c:pt idx="2">
                  <c:v>14.149</c:v>
                </c:pt>
                <c:pt idx="3">
                  <c:v>4.398</c:v>
                </c:pt>
                <c:pt idx="4">
                  <c:v>0.574</c:v>
                </c:pt>
                <c:pt idx="5">
                  <c:v>0.765</c:v>
                </c:pt>
                <c:pt idx="6">
                  <c:v>2.103</c:v>
                </c:pt>
                <c:pt idx="7">
                  <c:v>1.338</c:v>
                </c:pt>
                <c:pt idx="8">
                  <c:v>3.059</c:v>
                </c:pt>
                <c:pt idx="9">
                  <c:v>8.413</c:v>
                </c:pt>
                <c:pt idx="10">
                  <c:v>14.149</c:v>
                </c:pt>
                <c:pt idx="11">
                  <c:v>9.943</c:v>
                </c:pt>
                <c:pt idx="12">
                  <c:v>5.354</c:v>
                </c:pt>
                <c:pt idx="13">
                  <c:v>3.824</c:v>
                </c:pt>
                <c:pt idx="14">
                  <c:v>5.354</c:v>
                </c:pt>
                <c:pt idx="15">
                  <c:v>4.971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5–10 kt</c:v>
                </c:pt>
              </c:strCache>
            </c:strRef>
          </c:tx>
          <c:spPr>
            <a:solidFill>
              <a:srgbClr val="3B5B92"/>
            </a:solidFill>
            <a:ln>
              <a:solidFill>
                <a:srgbClr val="3B5B92"/>
              </a:solidFill>
            </a:ln>
          </c:spPr>
          <c:cat>
            <c:strRef>
              <c:f>Sheet1!$A$2:$A$17</c:f>
              <c:strCache>
                <c:ptCount val="16"/>
                <c:pt idx="0">
                  <c:v>N</c:v>
                </c:pt>
                <c:pt idx="1">
                  <c:v>NNE</c:v>
                </c:pt>
                <c:pt idx="2">
                  <c:v>NE</c:v>
                </c:pt>
                <c:pt idx="3">
                  <c:v>ENE</c:v>
                </c:pt>
                <c:pt idx="4">
                  <c:v>E</c:v>
                </c:pt>
                <c:pt idx="5">
                  <c:v>ESE</c:v>
                </c:pt>
                <c:pt idx="6">
                  <c:v>SE</c:v>
                </c:pt>
                <c:pt idx="7">
                  <c:v>SSE</c:v>
                </c:pt>
                <c:pt idx="8">
                  <c:v>S</c:v>
                </c:pt>
                <c:pt idx="9">
                  <c:v>SSW</c:v>
                </c:pt>
                <c:pt idx="10">
                  <c:v>SW</c:v>
                </c:pt>
                <c:pt idx="11">
                  <c:v>WSW</c:v>
                </c:pt>
                <c:pt idx="12">
                  <c:v>W</c:v>
                </c:pt>
                <c:pt idx="13">
                  <c:v>WNW</c:v>
                </c:pt>
                <c:pt idx="14">
                  <c:v>NW</c:v>
                </c:pt>
                <c:pt idx="15">
                  <c:v>NNW</c:v>
                </c:pt>
              </c:strCache>
            </c:strRef>
          </c:cat>
          <c:val>
            <c:numRef>
              <c:f>Sheet1!$C$2:$C$17</c:f>
              <c:numCache>
                <c:formatCode>General</c:formatCode>
                <c:ptCount val="16"/>
                <c:pt idx="0">
                  <c:v>5.927</c:v>
                </c:pt>
                <c:pt idx="1">
                  <c:v>13.193</c:v>
                </c:pt>
                <c:pt idx="2">
                  <c:v>12.62</c:v>
                </c:pt>
                <c:pt idx="3">
                  <c:v>2.868</c:v>
                </c:pt>
                <c:pt idx="4">
                  <c:v>0.191</c:v>
                </c:pt>
                <c:pt idx="5">
                  <c:v>0.191</c:v>
                </c:pt>
                <c:pt idx="6">
                  <c:v>1.338</c:v>
                </c:pt>
                <c:pt idx="7">
                  <c:v>0.765</c:v>
                </c:pt>
                <c:pt idx="8">
                  <c:v>2.486</c:v>
                </c:pt>
                <c:pt idx="9">
                  <c:v>7.457</c:v>
                </c:pt>
                <c:pt idx="10">
                  <c:v>11.09</c:v>
                </c:pt>
                <c:pt idx="11">
                  <c:v>6.501</c:v>
                </c:pt>
                <c:pt idx="12">
                  <c:v>1.721</c:v>
                </c:pt>
                <c:pt idx="13">
                  <c:v>1.721</c:v>
                </c:pt>
                <c:pt idx="14">
                  <c:v>3.633</c:v>
                </c:pt>
                <c:pt idx="15">
                  <c:v>3.059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10–15 kt</c:v>
                </c:pt>
              </c:strCache>
            </c:strRef>
          </c:tx>
          <c:spPr>
            <a:solidFill>
              <a:srgbClr val="238A8D"/>
            </a:solidFill>
            <a:ln>
              <a:solidFill>
                <a:srgbClr val="238A8D"/>
              </a:solidFill>
            </a:ln>
          </c:spPr>
          <c:cat>
            <c:strRef>
              <c:f>Sheet1!$A$2:$A$17</c:f>
              <c:strCache>
                <c:ptCount val="16"/>
                <c:pt idx="0">
                  <c:v>N</c:v>
                </c:pt>
                <c:pt idx="1">
                  <c:v>NNE</c:v>
                </c:pt>
                <c:pt idx="2">
                  <c:v>NE</c:v>
                </c:pt>
                <c:pt idx="3">
                  <c:v>ENE</c:v>
                </c:pt>
                <c:pt idx="4">
                  <c:v>E</c:v>
                </c:pt>
                <c:pt idx="5">
                  <c:v>ESE</c:v>
                </c:pt>
                <c:pt idx="6">
                  <c:v>SE</c:v>
                </c:pt>
                <c:pt idx="7">
                  <c:v>SSE</c:v>
                </c:pt>
                <c:pt idx="8">
                  <c:v>S</c:v>
                </c:pt>
                <c:pt idx="9">
                  <c:v>SSW</c:v>
                </c:pt>
                <c:pt idx="10">
                  <c:v>SW</c:v>
                </c:pt>
                <c:pt idx="11">
                  <c:v>WSW</c:v>
                </c:pt>
                <c:pt idx="12">
                  <c:v>W</c:v>
                </c:pt>
                <c:pt idx="13">
                  <c:v>WNW</c:v>
                </c:pt>
                <c:pt idx="14">
                  <c:v>NW</c:v>
                </c:pt>
                <c:pt idx="15">
                  <c:v>NNW</c:v>
                </c:pt>
              </c:strCache>
            </c:strRef>
          </c:cat>
          <c:val>
            <c:numRef>
              <c:f>Sheet1!$D$2:$D$17</c:f>
              <c:numCache>
                <c:formatCode>General</c:formatCode>
                <c:ptCount val="16"/>
                <c:pt idx="0">
                  <c:v>2.486</c:v>
                </c:pt>
                <c:pt idx="1">
                  <c:v>6.501</c:v>
                </c:pt>
                <c:pt idx="2">
                  <c:v>7.839</c:v>
                </c:pt>
                <c:pt idx="3">
                  <c:v>2.103</c:v>
                </c:pt>
                <c:pt idx="4">
                  <c:v>0.0</c:v>
                </c:pt>
                <c:pt idx="5">
                  <c:v>0.0</c:v>
                </c:pt>
                <c:pt idx="6">
                  <c:v>0.574</c:v>
                </c:pt>
                <c:pt idx="7">
                  <c:v>0.574</c:v>
                </c:pt>
                <c:pt idx="8">
                  <c:v>1.147</c:v>
                </c:pt>
                <c:pt idx="9">
                  <c:v>4.207</c:v>
                </c:pt>
                <c:pt idx="10">
                  <c:v>5.163</c:v>
                </c:pt>
                <c:pt idx="11">
                  <c:v>2.868</c:v>
                </c:pt>
                <c:pt idx="12">
                  <c:v>0.765</c:v>
                </c:pt>
                <c:pt idx="13">
                  <c:v>0.191</c:v>
                </c:pt>
                <c:pt idx="14">
                  <c:v>1.721</c:v>
                </c:pt>
                <c:pt idx="15">
                  <c:v>1.338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15–20 kt</c:v>
                </c:pt>
              </c:strCache>
            </c:strRef>
          </c:tx>
          <c:spPr>
            <a:solidFill>
              <a:srgbClr val="29AF7F"/>
            </a:solidFill>
            <a:ln>
              <a:solidFill>
                <a:srgbClr val="29AF7F"/>
              </a:solidFill>
            </a:ln>
          </c:spPr>
          <c:cat>
            <c:strRef>
              <c:f>Sheet1!$A$2:$A$17</c:f>
              <c:strCache>
                <c:ptCount val="16"/>
                <c:pt idx="0">
                  <c:v>N</c:v>
                </c:pt>
                <c:pt idx="1">
                  <c:v>NNE</c:v>
                </c:pt>
                <c:pt idx="2">
                  <c:v>NE</c:v>
                </c:pt>
                <c:pt idx="3">
                  <c:v>ENE</c:v>
                </c:pt>
                <c:pt idx="4">
                  <c:v>E</c:v>
                </c:pt>
                <c:pt idx="5">
                  <c:v>ESE</c:v>
                </c:pt>
                <c:pt idx="6">
                  <c:v>SE</c:v>
                </c:pt>
                <c:pt idx="7">
                  <c:v>SSE</c:v>
                </c:pt>
                <c:pt idx="8">
                  <c:v>S</c:v>
                </c:pt>
                <c:pt idx="9">
                  <c:v>SSW</c:v>
                </c:pt>
                <c:pt idx="10">
                  <c:v>SW</c:v>
                </c:pt>
                <c:pt idx="11">
                  <c:v>WSW</c:v>
                </c:pt>
                <c:pt idx="12">
                  <c:v>W</c:v>
                </c:pt>
                <c:pt idx="13">
                  <c:v>WNW</c:v>
                </c:pt>
                <c:pt idx="14">
                  <c:v>NW</c:v>
                </c:pt>
                <c:pt idx="15">
                  <c:v>NNW</c:v>
                </c:pt>
              </c:strCache>
            </c:strRef>
          </c:cat>
          <c:val>
            <c:numRef>
              <c:f>Sheet1!$E$2:$E$17</c:f>
              <c:numCache>
                <c:formatCode>General</c:formatCode>
                <c:ptCount val="16"/>
                <c:pt idx="0">
                  <c:v>0.382</c:v>
                </c:pt>
                <c:pt idx="1">
                  <c:v>1.53</c:v>
                </c:pt>
                <c:pt idx="2">
                  <c:v>1.721</c:v>
                </c:pt>
                <c:pt idx="3">
                  <c:v>1.53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0.191</c:v>
                </c:pt>
                <c:pt idx="9">
                  <c:v>0.574</c:v>
                </c:pt>
                <c:pt idx="10">
                  <c:v>1.912</c:v>
                </c:pt>
                <c:pt idx="11">
                  <c:v>1.721</c:v>
                </c:pt>
                <c:pt idx="12">
                  <c:v>0.191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</c:numCache>
            </c:numRef>
          </c:val>
          <c:smooth val="0"/>
        </c:ser>
        <c:axId val="2073612648"/>
        <c:axId val="-2112772216"/>
      </c:radarChart>
      <c:catAx>
        <c:axId val="2073612648"/>
        <c:scaling>
          <c:orientation val="minMax"/>
        </c:scaling>
        <c:delete val="0"/>
        <c:axPos val="b"/>
        <c:majorGridlines/>
        <c:numFmt formatCode="m/d/yy" sourceLinked="1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12772216"/>
        <c:crosses val="autoZero"/>
        <c:auto val="1"/>
        <c:lblAlgn val="ctr"/>
        <c:lblOffset val="100"/>
        <c:noMultiLvlLbl val="0"/>
      </c:catAx>
      <c:valAx>
        <c:axId val="-2112772216"/>
        <c:scaling>
          <c:orientation val="minMax"/>
          <c:max val="16.0"/>
          <c:min val="0.0"/>
        </c:scaling>
        <c:delete val="0"/>
        <c:axPos val="l"/>
        <c:majorGridlines>
          <c:spPr>
            <a:ln>
              <a:solidFill>
                <a:srgbClr val="D1D5DB"/>
              </a:solidFill>
            </a:ln>
          </c:spPr>
        </c:majorGridlines>
        <c:numFmt formatCode="General" sourceLinked="1"/>
        <c:majorTickMark val="cross"/>
        <c:minorTickMark val="none"/>
        <c:tickLblPos val="nextTo"/>
        <c:txPr>
          <a:bodyPr/>
          <a:lstStyle/>
          <a:p>
            <a:pPr>
              <a:defRPr sz="1100">
                <a:solidFill>
                  <a:srgbClr val="6B7280"/>
                </a:solidFill>
              </a:defRPr>
            </a:pPr>
          </a:p>
        </c:txPr>
        <c:crossAx val="2073612648"/>
        <c:crosses val="autoZero"/>
        <c:crossBetween val="between"/>
        <c:majorUnit val="2.0"/>
      </c:valAx>
    </c:plotArea>
    <c:legend>
      <c:legendPos val="b"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200">
          <a:solidFill>
            <a:srgbClr val="1F2937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% of hours</c:v>
                </c:pt>
              </c:strCache>
            </c:strRef>
          </c:tx>
          <c:dPt>
            <c:idx val="0"/>
            <c:spPr>
              <a:solidFill>
                <a:srgbClr val="482677"/>
              </a:solidFill>
            </c:spPr>
          </c:dPt>
          <c:dPt>
            <c:idx val="1"/>
            <c:spPr>
              <a:solidFill>
                <a:srgbClr val="3B5B92"/>
              </a:solidFill>
            </c:spPr>
          </c:dPt>
          <c:dPt>
            <c:idx val="2"/>
            <c:spPr>
              <a:solidFill>
                <a:srgbClr val="238A8D"/>
              </a:solidFill>
            </c:spPr>
          </c:dPt>
          <c:dPt>
            <c:idx val="3"/>
            <c:spPr>
              <a:solidFill>
                <a:srgbClr val="29AF7F"/>
              </a:solidFill>
            </c:spPr>
          </c:dPt>
          <c:dPt>
            <c:idx val="4"/>
            <c:spPr>
              <a:solidFill>
                <a:srgbClr val="84D44B"/>
              </a:solidFill>
            </c:spPr>
          </c:dPt>
          <c:cat>
            <c:strRef>
              <c:f>Sheet1!$A$2:$A$6</c:f>
              <c:strCache>
                <c:ptCount val="5"/>
                <c:pt idx="0">
                  <c:v>0–5</c:v>
                </c:pt>
                <c:pt idx="1">
                  <c:v>5–10</c:v>
                </c:pt>
                <c:pt idx="2">
                  <c:v>10–15</c:v>
                </c:pt>
                <c:pt idx="3">
                  <c:v>15–20</c:v>
                </c:pt>
                <c:pt idx="4">
                  <c:v>20+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25.2</c:v>
                </c:pt>
                <c:pt idx="1">
                  <c:v>37.3</c:v>
                </c:pt>
                <c:pt idx="2">
                  <c:v>27.7</c:v>
                </c:pt>
                <c:pt idx="3">
                  <c:v>9.8</c:v>
                </c:pt>
                <c:pt idx="4">
                  <c:v>0.0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2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sz="1200" b="0">
                    <a:solidFill>
                      <a:srgbClr val="6B7280"/>
                    </a:solidFill>
                    <a:latin typeface="Calibri"/>
                  </a:rPr>
                  <a:t>Wind speed (kt)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5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1F2937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F2937"/>
                </a:solidFill>
                <a:latin typeface="Calibri"/>
              </a:rPr>
              <a:t>HYC (Caseville): September 8–14 wind, 2015–2025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>
                <a:solidFill>
                  <a:srgbClr val="6B7280"/>
                </a:solidFill>
                <a:latin typeface="Calibri"/>
              </a:rPr>
              <a:t>HRRR 10 m wind, racing hours 10 AM–4 PM EDT, n = 523 hours. Sample point 2 nm out at bearing 330° from the club</a:t>
            </a:r>
          </a:p>
        </p:txBody>
      </p:sp>
      <p:sp>
        <p:nvSpPr>
          <p:cNvPr id="4" name="Rose heading"/>
          <p:cNvSpPr txBox="1"/>
          <p:nvPr/>
        </p:nvSpPr>
        <p:spPr>
          <a:xfrm>
            <a:off x="548640" y="1554480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1F2937"/>
                </a:solidFill>
                <a:latin typeface="Calibri"/>
              </a:rPr>
              <a:t>Wind rose: % of hours by direction wind blows from</a:t>
            </a:r>
          </a:p>
        </p:txBody>
      </p:sp>
      <p:graphicFrame>
        <p:nvGraphicFramePr>
          <p:cNvPr id="5" name="Wind rose"/>
          <p:cNvGraphicFramePr>
            <a:graphicFrameLocks noGrp="1"/>
          </p:cNvGraphicFramePr>
          <p:nvPr/>
        </p:nvGraphicFramePr>
        <p:xfrm>
          <a:off x="457200" y="1874519"/>
          <a:ext cx="585216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Distribution heading"/>
          <p:cNvSpPr txBox="1"/>
          <p:nvPr/>
        </p:nvSpPr>
        <p:spPr>
          <a:xfrm>
            <a:off x="6675120" y="1554480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1F2937"/>
                </a:solidFill>
                <a:latin typeface="Calibri"/>
              </a:rPr>
              <a:t>Speed distribution (% of hours)</a:t>
            </a:r>
          </a:p>
        </p:txBody>
      </p:sp>
      <p:graphicFrame>
        <p:nvGraphicFramePr>
          <p:cNvPr id="7" name="Speed distribution"/>
          <p:cNvGraphicFramePr>
            <a:graphicFrameLocks noGrp="1"/>
          </p:cNvGraphicFramePr>
          <p:nvPr/>
        </p:nvGraphicFramePr>
        <p:xfrm>
          <a:off x="6583680" y="1874519"/>
          <a:ext cx="5120640" cy="22402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8" name="Summary statistics"/>
          <p:cNvGraphicFramePr>
            <a:graphicFrameLocks noGrp="1"/>
          </p:cNvGraphicFramePr>
          <p:nvPr/>
        </p:nvGraphicFramePr>
        <p:xfrm>
          <a:off x="6675120" y="4251960"/>
          <a:ext cx="4937760" cy="19202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00400"/>
                <a:gridCol w="173736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937"/>
                          </a:solidFill>
                          <a:latin typeface="Calibri"/>
                        </a:rPr>
                        <a:t>Mean / median</a:t>
                      </a:r>
                    </a:p>
                  </a:txBody>
                  <a:tcPr marT="27432" marB="27432" marL="91440" marR="91440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1F2937"/>
                          </a:solidFill>
                          <a:latin typeface="Calibri"/>
                        </a:rPr>
                        <a:t>8.7 / 8.1 kt</a:t>
                      </a:r>
                    </a:p>
                  </a:txBody>
                  <a:tcPr marT="27432" marB="27432" marL="91440" marR="91440" anchor="ctr">
                    <a:solidFill>
                      <a:srgbClr val="F3F4F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937"/>
                          </a:solidFill>
                          <a:latin typeface="Calibri"/>
                        </a:rPr>
                        <a:t>90th percentile / max</a:t>
                      </a:r>
                    </a:p>
                  </a:txBody>
                  <a:tcPr marT="27432" marB="27432"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1F2937"/>
                          </a:solidFill>
                          <a:latin typeface="Calibri"/>
                        </a:rPr>
                        <a:t>14.9 / 19.4 kt</a:t>
                      </a:r>
                    </a:p>
                  </a:txBody>
                  <a:tcPr marT="27432" marB="27432" marL="91440" marR="91440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937"/>
                          </a:solidFill>
                          <a:latin typeface="Calibri"/>
                        </a:rPr>
                        <a:t>Below 5 kt</a:t>
                      </a:r>
                    </a:p>
                  </a:txBody>
                  <a:tcPr marT="27432" marB="27432" marL="91440" marR="91440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1F2937"/>
                          </a:solidFill>
                          <a:latin typeface="Calibri"/>
                        </a:rPr>
                        <a:t>25%</a:t>
                      </a:r>
                    </a:p>
                  </a:txBody>
                  <a:tcPr marT="27432" marB="27432" marL="91440" marR="91440" anchor="ctr">
                    <a:solidFill>
                      <a:srgbClr val="F3F4F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937"/>
                          </a:solidFill>
                          <a:latin typeface="Calibri"/>
                        </a:rPr>
                        <a:t>5–15 kt</a:t>
                      </a:r>
                    </a:p>
                  </a:txBody>
                  <a:tcPr marT="27432" marB="27432"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1F2937"/>
                          </a:solidFill>
                          <a:latin typeface="Calibri"/>
                        </a:rPr>
                        <a:t>65%</a:t>
                      </a:r>
                    </a:p>
                  </a:txBody>
                  <a:tcPr marT="27432" marB="27432" marL="91440" marR="91440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937"/>
                          </a:solidFill>
                          <a:latin typeface="Calibri"/>
                        </a:rPr>
                        <a:t>15 kt or more</a:t>
                      </a:r>
                    </a:p>
                  </a:txBody>
                  <a:tcPr marT="27432" marB="27432" marL="91440" marR="91440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1F2937"/>
                          </a:solidFill>
                          <a:latin typeface="Calibri"/>
                        </a:rPr>
                        <a:t>9.8%</a:t>
                      </a:r>
                    </a:p>
                  </a:txBody>
                  <a:tcPr marT="27432" marB="27432" marL="91440" marR="91440" anchor="ctr">
                    <a:solidFill>
                      <a:srgbClr val="F3F4F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937"/>
                          </a:solidFill>
                          <a:latin typeface="Calibri"/>
                        </a:rPr>
                        <a:t>Usable days (3+ h in 5–15 kt)</a:t>
                      </a:r>
                    </a:p>
                  </a:txBody>
                  <a:tcPr marT="27432" marB="27432"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1F2937"/>
                          </a:solidFill>
                          <a:latin typeface="Calibri"/>
                        </a:rPr>
                        <a:t>77%</a:t>
                      </a:r>
                    </a:p>
                  </a:txBody>
                  <a:tcPr marT="27432" marB="27432" marL="91440" marR="91440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937"/>
                          </a:solidFill>
                          <a:latin typeface="Calibri"/>
                        </a:rPr>
                        <a:t>Direction steadiness R</a:t>
                      </a:r>
                    </a:p>
                  </a:txBody>
                  <a:tcPr marT="27432" marB="27432" marL="91440" marR="91440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1F2937"/>
                          </a:solidFill>
                          <a:latin typeface="Calibri"/>
                        </a:rPr>
                        <a:t>0.21</a:t>
                      </a:r>
                    </a:p>
                  </a:txBody>
                  <a:tcPr marT="27432" marB="27432" marL="91440" marR="91440" anchor="ctr"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9" name="Source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Source: NOAA HRRR F00 analysis, water cells within 4 nm of the sample point. Wind rose bands are cumulative filled areas, so each color shows its own speed band.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